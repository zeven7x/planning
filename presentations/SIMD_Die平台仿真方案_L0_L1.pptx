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4ba667f2ac45c5" /><Relationship Type="http://schemas.openxmlformats.org/officeDocument/2006/relationships/extended-properties" Target="/docProps/app.xml" Id="R8a04f618717749dd" /><Relationship Type="http://schemas.openxmlformats.org/officeDocument/2006/relationships/officeDocument" Target="/ppt/presentation.xml" Id="R794e0ef828d341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fded77a0b54a23"/>
  </p:sldMasterIdLst>
  <p:notesMasterIdLst>
    <p:notesMasterId xmlns:r="http://schemas.openxmlformats.org/officeDocument/2006/relationships" r:id="R8a03198f3d0d4fac"/>
  </p:notesMasterIdLst>
  <p:sldIdLst>
    <p:sldId xmlns:r="http://schemas.openxmlformats.org/officeDocument/2006/relationships" id="256" r:id="Re8674d2cd3e045a0"/>
    <p:sldId xmlns:r="http://schemas.openxmlformats.org/officeDocument/2006/relationships" id="257" r:id="Rd0413ec9d99e45f4"/>
    <p:sldId xmlns:r="http://schemas.openxmlformats.org/officeDocument/2006/relationships" id="258" r:id="R6e7db59d9bd647dd"/>
    <p:sldId xmlns:r="http://schemas.openxmlformats.org/officeDocument/2006/relationships" id="259" r:id="Rc02db67693354220"/>
    <p:sldId xmlns:r="http://schemas.openxmlformats.org/officeDocument/2006/relationships" id="260" r:id="R73a908e15c1c44fb"/>
    <p:sldId xmlns:r="http://schemas.openxmlformats.org/officeDocument/2006/relationships" id="261" r:id="R37842239e0b44d3d"/>
    <p:sldId xmlns:r="http://schemas.openxmlformats.org/officeDocument/2006/relationships" id="262" r:id="Rb5d25fdc7afc4ff5"/>
    <p:sldId xmlns:r="http://schemas.openxmlformats.org/officeDocument/2006/relationships" id="263" r:id="R8d2cec82e3cc4f82"/>
    <p:sldId xmlns:r="http://schemas.openxmlformats.org/officeDocument/2006/relationships" id="264" r:id="Rfa93bd94f8ac4d33"/>
    <p:sldId xmlns:r="http://schemas.openxmlformats.org/officeDocument/2006/relationships" id="265" r:id="R6f740ed4bec14a95"/>
    <p:sldId xmlns:r="http://schemas.openxmlformats.org/officeDocument/2006/relationships" id="266" r:id="R5c7c5c71902a4c5f"/>
    <p:sldId xmlns:r="http://schemas.openxmlformats.org/officeDocument/2006/relationships" id="267" r:id="R9873fc6e963643c1"/>
    <p:sldId xmlns:r="http://schemas.openxmlformats.org/officeDocument/2006/relationships" id="268" r:id="Rd50c4ccba96544a7"/>
    <p:sldId xmlns:r="http://schemas.openxmlformats.org/officeDocument/2006/relationships" id="269" r:id="R8b2be5151eaa47bd"/>
    <p:sldId xmlns:r="http://schemas.openxmlformats.org/officeDocument/2006/relationships" id="270" r:id="Rc82ee0977bda4977"/>
    <p:sldId xmlns:r="http://schemas.openxmlformats.org/officeDocument/2006/relationships" id="271" r:id="Rbd574ea9e6664ebf"/>
    <p:sldId xmlns:r="http://schemas.openxmlformats.org/officeDocument/2006/relationships" id="272" r:id="R281c95a0095b40f2"/>
    <p:sldId xmlns:r="http://schemas.openxmlformats.org/officeDocument/2006/relationships" id="273" r:id="R96d69fd5f3af49d8"/>
    <p:sldId xmlns:r="http://schemas.openxmlformats.org/officeDocument/2006/relationships" id="274" r:id="R2617b1295ebe412f"/>
    <p:sldId xmlns:r="http://schemas.openxmlformats.org/officeDocument/2006/relationships" id="275" r:id="R42d94a164e6140af"/>
    <p:sldId xmlns:r="http://schemas.openxmlformats.org/officeDocument/2006/relationships" id="276" r:id="R7ad62509ec9045fa"/>
    <p:sldId xmlns:r="http://schemas.openxmlformats.org/officeDocument/2006/relationships" id="277" r:id="Rb12edab872ea4fd6"/>
    <p:sldId xmlns:r="http://schemas.openxmlformats.org/officeDocument/2006/relationships" id="278" r:id="Rd8966aa2c1934c18"/>
    <p:sldId xmlns:r="http://schemas.openxmlformats.org/officeDocument/2006/relationships" id="279" r:id="Rc215e4f40646435c"/>
    <p:sldId xmlns:r="http://schemas.openxmlformats.org/officeDocument/2006/relationships" id="280" r:id="Rc044611a903b450f"/>
    <p:sldId xmlns:r="http://schemas.openxmlformats.org/officeDocument/2006/relationships" id="281" r:id="Ra0c19de08f1b44fc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1e9e2c11244af1" /><Relationship Type="http://schemas.openxmlformats.org/officeDocument/2006/relationships/slideMaster" Target="/ppt/slideMasters/slideMaster1.xml" Id="Rbffded77a0b54a23" /><Relationship Type="http://schemas.openxmlformats.org/officeDocument/2006/relationships/notesMaster" Target="/ppt/notesMasters/notesMaster1.xml" Id="R8a03198f3d0d4fac" /><Relationship Type="http://schemas.openxmlformats.org/officeDocument/2006/relationships/presProps" Target="/ppt/presProps.xml" Id="R01cafa3ed78a4333" /><Relationship Type="http://schemas.openxmlformats.org/officeDocument/2006/relationships/tableStyles" Target="/ppt/tableStyles.xml" Id="Rfeb88ecf98274778" /><Relationship Type="http://schemas.openxmlformats.org/officeDocument/2006/relationships/slide" Target="/ppt/slides/slide1.xml" Id="Re8674d2cd3e045a0" /><Relationship Type="http://schemas.openxmlformats.org/officeDocument/2006/relationships/slide" Target="/ppt/slides/slide2.xml" Id="Rd0413ec9d99e45f4" /><Relationship Type="http://schemas.openxmlformats.org/officeDocument/2006/relationships/slide" Target="/ppt/slides/slide3.xml" Id="R6e7db59d9bd647dd" /><Relationship Type="http://schemas.openxmlformats.org/officeDocument/2006/relationships/slide" Target="/ppt/slides/slide4.xml" Id="Rc02db67693354220" /><Relationship Type="http://schemas.openxmlformats.org/officeDocument/2006/relationships/slide" Target="/ppt/slides/slide5.xml" Id="R73a908e15c1c44fb" /><Relationship Type="http://schemas.openxmlformats.org/officeDocument/2006/relationships/slide" Target="/ppt/slides/slide6.xml" Id="R37842239e0b44d3d" /><Relationship Type="http://schemas.openxmlformats.org/officeDocument/2006/relationships/slide" Target="/ppt/slides/slide7.xml" Id="Rb5d25fdc7afc4ff5" /><Relationship Type="http://schemas.openxmlformats.org/officeDocument/2006/relationships/slide" Target="/ppt/slides/slide8.xml" Id="R8d2cec82e3cc4f82" /><Relationship Type="http://schemas.openxmlformats.org/officeDocument/2006/relationships/slide" Target="/ppt/slides/slide9.xml" Id="Rfa93bd94f8ac4d33" /><Relationship Type="http://schemas.openxmlformats.org/officeDocument/2006/relationships/slide" Target="/ppt/slides/slide10.xml" Id="R6f740ed4bec14a95" /><Relationship Type="http://schemas.openxmlformats.org/officeDocument/2006/relationships/slide" Target="/ppt/slides/slide11.xml" Id="R5c7c5c71902a4c5f" /><Relationship Type="http://schemas.openxmlformats.org/officeDocument/2006/relationships/slide" Target="/ppt/slides/slide12.xml" Id="R9873fc6e963643c1" /><Relationship Type="http://schemas.openxmlformats.org/officeDocument/2006/relationships/slide" Target="/ppt/slides/slide13.xml" Id="Rd50c4ccba96544a7" /><Relationship Type="http://schemas.openxmlformats.org/officeDocument/2006/relationships/slide" Target="/ppt/slides/slide14.xml" Id="R8b2be5151eaa47bd" /><Relationship Type="http://schemas.openxmlformats.org/officeDocument/2006/relationships/slide" Target="/ppt/slides/slide15.xml" Id="Rc82ee0977bda4977" /><Relationship Type="http://schemas.openxmlformats.org/officeDocument/2006/relationships/slide" Target="/ppt/slides/slide16.xml" Id="Rbd574ea9e6664ebf" /><Relationship Type="http://schemas.openxmlformats.org/officeDocument/2006/relationships/slide" Target="/ppt/slides/slide17.xml" Id="R281c95a0095b40f2" /><Relationship Type="http://schemas.openxmlformats.org/officeDocument/2006/relationships/slide" Target="/ppt/slides/slide18.xml" Id="R96d69fd5f3af49d8" /><Relationship Type="http://schemas.openxmlformats.org/officeDocument/2006/relationships/slide" Target="/ppt/slides/slide19.xml" Id="R2617b1295ebe412f" /><Relationship Type="http://schemas.openxmlformats.org/officeDocument/2006/relationships/slide" Target="/ppt/slides/slide20.xml" Id="R42d94a164e6140af" /><Relationship Type="http://schemas.openxmlformats.org/officeDocument/2006/relationships/slide" Target="/ppt/slides/slide21.xml" Id="R7ad62509ec9045fa" /><Relationship Type="http://schemas.openxmlformats.org/officeDocument/2006/relationships/slide" Target="/ppt/slides/slide22.xml" Id="Rb12edab872ea4fd6" /><Relationship Type="http://schemas.openxmlformats.org/officeDocument/2006/relationships/slide" Target="/ppt/slides/slide23.xml" Id="Rd8966aa2c1934c18" /><Relationship Type="http://schemas.openxmlformats.org/officeDocument/2006/relationships/slide" Target="/ppt/slides/slide24.xml" Id="Rc215e4f40646435c" /><Relationship Type="http://schemas.openxmlformats.org/officeDocument/2006/relationships/slide" Target="/ppt/slides/slide25.xml" Id="Rc044611a903b450f" /><Relationship Type="http://schemas.openxmlformats.org/officeDocument/2006/relationships/slide" Target="/ppt/slides/slide26.xml" Id="Ra0c19de08f1b44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85cab653f34a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6bb4c8bea741ad" /><Relationship Type="http://schemas.openxmlformats.org/officeDocument/2006/relationships/notesMaster" Target="/ppt/notesMasters/notesMaster1.xml" Id="R282f02235a3942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26810bfb0146b2" /><Relationship Type="http://schemas.openxmlformats.org/officeDocument/2006/relationships/notesMaster" Target="/ppt/notesMasters/notesMaster1.xml" Id="R0ffb0d862d9c41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21a6b4ee21444e" /><Relationship Type="http://schemas.openxmlformats.org/officeDocument/2006/relationships/notesMaster" Target="/ppt/notesMasters/notesMaster1.xml" Id="R94c6d76a71a24e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cea3b1110947e5" /><Relationship Type="http://schemas.openxmlformats.org/officeDocument/2006/relationships/notesMaster" Target="/ppt/notesMasters/notesMaster1.xml" Id="R850fa79b176f46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c46fb2b3234051" /><Relationship Type="http://schemas.openxmlformats.org/officeDocument/2006/relationships/notesMaster" Target="/ppt/notesMasters/notesMaster1.xml" Id="Rce867cc8e55d4e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ee2d804eea4492" /><Relationship Type="http://schemas.openxmlformats.org/officeDocument/2006/relationships/notesMaster" Target="/ppt/notesMasters/notesMaster1.xml" Id="R95b92a266f294d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e98f6015b94eed" /><Relationship Type="http://schemas.openxmlformats.org/officeDocument/2006/relationships/notesMaster" Target="/ppt/notesMasters/notesMaster1.xml" Id="R77a42a91567245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8aa10269294431" /><Relationship Type="http://schemas.openxmlformats.org/officeDocument/2006/relationships/notesMaster" Target="/ppt/notesMasters/notesMaster1.xml" Id="R1f432a5a78cd48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07b15f1d5e4e10" /><Relationship Type="http://schemas.openxmlformats.org/officeDocument/2006/relationships/notesMaster" Target="/ppt/notesMasters/notesMaster1.xml" Id="Rc32573af903e4a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ced66509c54221" /><Relationship Type="http://schemas.openxmlformats.org/officeDocument/2006/relationships/notesMaster" Target="/ppt/notesMasters/notesMaster1.xml" Id="R5809690854754a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32e0811cbc247ca" /><Relationship Type="http://schemas.openxmlformats.org/officeDocument/2006/relationships/notesMaster" Target="/ppt/notesMasters/notesMaster1.xml" Id="R6788066f598a44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cd1d52fe5c4688" /><Relationship Type="http://schemas.openxmlformats.org/officeDocument/2006/relationships/notesMaster" Target="/ppt/notesMasters/notesMaster1.xml" Id="Raff7c28255fa4d9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f85a16fd51041bb" /><Relationship Type="http://schemas.openxmlformats.org/officeDocument/2006/relationships/notesMaster" Target="/ppt/notesMasters/notesMaster1.xml" Id="R0e7a66976d25445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7a8cd300158463d" /><Relationship Type="http://schemas.openxmlformats.org/officeDocument/2006/relationships/notesMaster" Target="/ppt/notesMasters/notesMaster1.xml" Id="Rd9c7d6a0c5874d6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b81f12813154000" /><Relationship Type="http://schemas.openxmlformats.org/officeDocument/2006/relationships/notesMaster" Target="/ppt/notesMasters/notesMaster1.xml" Id="Rb4281b2891a04e4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b6e607e0d494c96" /><Relationship Type="http://schemas.openxmlformats.org/officeDocument/2006/relationships/notesMaster" Target="/ppt/notesMasters/notesMaster1.xml" Id="Recbeec3fe41d485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19b649cee3b40c3" /><Relationship Type="http://schemas.openxmlformats.org/officeDocument/2006/relationships/notesMaster" Target="/ppt/notesMasters/notesMaster1.xml" Id="Re13b80a3e3734a0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be78d55e75c4aa1" /><Relationship Type="http://schemas.openxmlformats.org/officeDocument/2006/relationships/notesMaster" Target="/ppt/notesMasters/notesMaster1.xml" Id="R5d161541188948c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35d90875de34d7d" /><Relationship Type="http://schemas.openxmlformats.org/officeDocument/2006/relationships/notesMaster" Target="/ppt/notesMasters/notesMaster1.xml" Id="R7da9fee6982e44a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c154017ebcf4ad4" /><Relationship Type="http://schemas.openxmlformats.org/officeDocument/2006/relationships/notesMaster" Target="/ppt/notesMasters/notesMaster1.xml" Id="Rad6ccb8d53df44e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b095024258f4452" /><Relationship Type="http://schemas.openxmlformats.org/officeDocument/2006/relationships/notesMaster" Target="/ppt/notesMasters/notesMaster1.xml" Id="R82135e2e1d11477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5f4e3b8cdb44cd7" /><Relationship Type="http://schemas.openxmlformats.org/officeDocument/2006/relationships/notesMaster" Target="/ppt/notesMasters/notesMaster1.xml" Id="R73a61c9df22645e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099205309074036" /><Relationship Type="http://schemas.openxmlformats.org/officeDocument/2006/relationships/notesMaster" Target="/ppt/notesMasters/notesMaster1.xml" Id="R52e3908710c34cd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fcc9c5999044bdb" /><Relationship Type="http://schemas.openxmlformats.org/officeDocument/2006/relationships/notesMaster" Target="/ppt/notesMasters/notesMaster1.xml" Id="R749e23fe4d47447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b8f719d6b97451f" /><Relationship Type="http://schemas.openxmlformats.org/officeDocument/2006/relationships/notesMaster" Target="/ppt/notesMasters/notesMaster1.xml" Id="R632fb816dee34dd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c6bd5de77e54e29" /><Relationship Type="http://schemas.openxmlformats.org/officeDocument/2006/relationships/notesMaster" Target="/ppt/notesMasters/notesMaster1.xml" Id="Rda1b28d94b5f47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方案以 SIMD 计算簇为黑盒端点，核内服务模型由计算团队交付。die 团队负责依赖驱动的核外通信与存储服务。本文数字标为配置样例、推导或建议门槛，未将其作为实测芯片性能。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公开资料查阅日期：2026-09-19。建议参数与人工推导以页内口径为准。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项目范围建议。SIMD 不意味着固定 lane 数、固定 mask 行为或自动支持 gather/scatter，这些能力以核心团队声明为准。ASTRA 变量名中的 GPU 不应成为硬件语义。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公开资料查阅日期：2026-09-19。建议参数与人工推导以页内口径为准。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本地源码快照：D:/GEM5/gem5_esl，HEAD c5812cc155e08bc686042e27eb9d10bc51f405ee。源码可复用不等于已完成集成。</a:t>
            </a:r>
          </a:p>
          <a:p xmlns:a="http://schemas.openxmlformats.org/drawingml/2006/main">
            <a:r>
              <a:t>本页层级表表达体系结构，NI 与端点通过 Ruby MessageBuffer 交互；普通 RequestPort 不能直接接 NI。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garnet: https://www.gem5.org/documentation/general_docs/ruby/heterogarnet/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公开资料查阅日期：2026-09-19。建议参数与人工推导以页内口径为准。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归属为建议边界，团队可调整但必须同步更新 profile scope。L1 中本地 profile 含哪些节点必须明确，防止本地存储和搬运再次计时。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公开资料查阅日期：2026-09-19。建议参数与人工推导以页内口径为准。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这些输出文件是项目约定，并非 Timeloop 原生自动提供的完整接口。核心团队负责证明 mapping 到 boundary access 的语义正确。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timeloop: https://timeloop.csail.mit.edu/v4/output-formats/stats</a:t>
            </a:r>
          </a:p>
          <a:p xmlns:a="http://schemas.openxmlformats.org/drawingml/2006/main">
            <a:r>
              <a:t>trace: https://timeloop.csail.mit.edu/v4/output-formats/trace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公开资料查阅日期：2026-09-19。建议参数与人工推导以页内口径为准。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不要求重新实现核内部周期仿真。若只交整算子时长，首版只能采用整算子黑盒，不能宣称具备 tile 内部流水重叠。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timeloop: https://timeloop.csail.mit.edu/v4/output-formats/stats</a:t>
            </a:r>
          </a:p>
          <a:p xmlns:a="http://schemas.openxmlformats.org/drawingml/2006/main">
            <a:r>
              <a:t>trace: https://timeloop.csail.mit.edu/v4/output-formats/trace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公开资料查阅日期：2026-09-19。建议参数与人工推导以页内口径为准。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本页为项目接口设计，不预设该 SIMD 硬件具有所有列举能力。事务合并规则需由硬件定义，不能沿用 SIMT warp coalescing 假设。私有访存由核心团队建模，只有跨约定边界的访问进入 die 仿真。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公开资料查阅日期：2026-09-19。建议参数与人工推导以页内口径为准。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本地源码快照：D:/GEM5/gem5_esl，HEAD c5812cc155e08bc686042e27eb9d10bc51f405ee。源码可复用不等于已完成集成。</a:t>
            </a:r>
          </a:p>
          <a:p xmlns:a="http://schemas.openxmlformats.org/drawingml/2006/main">
            <a:r>
              <a:t>项目传输 transfer 可含多个 Message/packet，必须等待全部包被目的端接受才能完成。多播在当前网络路径需核对单播复制语义。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garnet: https://www.gem5.org/documentation/general_docs/ruby/heterogarnet/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公开资料查阅日期：2026-09-19。建议参数与人工推导以页内口径为准。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本地源码快照：D:/GEM5/gem5_esl，HEAD c5812cc155e08bc686042e27eb9d10bc51f405ee。源码可复用不等于已完成集成。</a:t>
            </a:r>
          </a:p>
          <a:p xmlns:a="http://schemas.openxmlformats.org/drawingml/2006/main">
            <a:r>
              <a:t>证据：src/mem/ruby/network/garnet/NetworkInterface.cc 的 flitisizeMessage 与 src/mem/ruby/network/Network.cc 的 MessageSizeType_to_int。第一版采用固定 packet，尾包按明确规则填充。元数据字段不一定全部计入模拟头部，头部大小必须显式定义。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公开资料查阅日期：2026-09-19。建议参数与人工推导以页内口径为准。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人工配置推导，非 gem5 实测。1 GHz × 16 B = 16 GB/s。有效率 64/80=80%。80 ns 与 320 ns 是瓶颈链路发送占用，不包含请求、路由、启动、排队、credit 或目的消费。异构链路分别计算各跳 flit/padding。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公开资料查阅日期：2026-09-19。建议参数与人工推导以页内口径为准。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router/link latency 不能简单作为每包独立固定延迟叠加。流水链路的传播延迟与可持续发送率要区分。网络平均包延迟和算子完成时间采用不同统计边界。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garnet: https://www.gem5.org/documentation/general_docs/ruby/heterogarnet/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公开资料查阅日期：2026-09-19。建议参数与人工推导以页内口径为准。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本地源码快照：D:/GEM5/gem5_esl，HEAD c5812cc155e08bc686042e27eb9d10bc51f405ee。源码可复用不等于已完成集成。</a:t>
            </a:r>
          </a:p>
          <a:p xmlns:a="http://schemas.openxmlformats.org/drawingml/2006/main">
            <a:r>
              <a:t>本地存在 SimpleMemory.py、HBMCtrl.py、DRAMsim3.py 和 stdlib memory/hbm.py。本表未宣称已构建或联调通过。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garnet: https://www.gem5.org/documentation/general_docs/ruby/heterogarnet/</a:t>
            </a:r>
          </a:p>
          <a:p xmlns:a="http://schemas.openxmlformats.org/drawingml/2006/main">
            <a:r>
              <a:t>synth: https://www.gem5.org/documentation/general_docs/debugging_and_testing/directed_testers/garnet_synthetic_traffic/</a:t>
            </a:r>
          </a:p>
          <a:p xmlns:a="http://schemas.openxmlformats.org/drawingml/2006/main">
            <a:r>
              <a:t>hbm: https://www.gem5.org/documentation/general_docs/stdlib_api/gem5.components.memory.hbm.html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公开资料查阅日期：2026-09-19。建议参数与人工推导以页内口径为准。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本地源码快照：D:/GEM5/gem5_esl，HEAD c5812cc155e08bc686042e27eb9d10bc51f405ee。源码可复用不等于已完成集成。</a:t>
            </a:r>
          </a:p>
          <a:p xmlns:a="http://schemas.openxmlformats.org/drawingml/2006/main">
            <a:r>
              <a:t>D2D API 属项目新增。L0 使用可控测试端，L1 使用 profile，不代表已经实现在线联合仿真。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synth: https://www.gem5.org/documentation/general_docs/debugging_and_testing/directed_testers/garnet_synthetic_traffic/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公开资料查阅日期：2026-09-19。建议参数与人工推导以页内口径为准。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项目选型建议。HBM 物理上可能在独立 memory die，此处归属指仿真责任而非制造位置。只要由 gem5 侧完整建模，ASTRA 不得再次收取相同服务。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公开资料查阅日期：2026-09-19。建议参数与人工推导以页内口径为准。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本地源码快照：D:/GEM5/gem5_esl，HEAD c5812cc155e08bc686042e27eb9d10bc51f405ee。源码可复用不等于已完成集成。</a:t>
            </a:r>
          </a:p>
          <a:p xmlns:a="http://schemas.openxmlformats.org/drawingml/2006/main">
            <a:r>
              <a:t>Ramulator 仓库在本次查阅时 README 标为 2.1，列出 HBM1/2/3/4，并说明 wrapper 测试基于 gem5 v25.1。不能把它当所有旧 2.0 分支的能力，也不能保证兼容当前本地快照。DRAMsim3 的 HBM2 配置为仓库实际文件。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hbm: https://www.gem5.org/documentation/general_docs/stdlib_api/gem5.components.memory.hbm.html</a:t>
            </a:r>
          </a:p>
          <a:p xmlns:a="http://schemas.openxmlformats.org/drawingml/2006/main">
            <a:r>
              <a:t>ramulator: https://github.com/CMU-SAFARI/ramulator2</a:t>
            </a:r>
          </a:p>
          <a:p xmlns:a="http://schemas.openxmlformats.org/drawingml/2006/main">
            <a:r>
              <a:t>dramsim: https://github.com/umd-memsys/DRAMsim3</a:t>
            </a:r>
          </a:p>
          <a:p xmlns:a="http://schemas.openxmlformats.org/drawingml/2006/main">
            <a:r>
              <a:t>dramsimcfg: https://github.com/umd-memsys/DRAMsim3/blob/master/configs/HBM2_8Gb_x128.ini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公开资料查阅日期：2026-09-19。建议参数与人工推导以页内口径为准。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本地源码快照：D:/GEM5/gem5_esl，HEAD c5812cc155e08bc686042e27eb9d10bc51f405ee。源码可复用不等于已完成集成。</a:t>
            </a:r>
          </a:p>
          <a:p xmlns:a="http://schemas.openxmlformats.org/drawingml/2006/main">
            <a:r>
              <a:t>读取 src/python/gem5/components/memory/hbm.py 的 HBM2Stack：HighBandwidthMemory(HBM_2000_4H_1x64, 8, 128, size)。DRAM interface device_bus_width=64, burst_length=4, tCK=1ns。表中 256 GB/s 为原始推导，未扣控制/刷新/读写切换/竞争，且不是跑分。NoC 对比仅表示单条链路量级，不证明整个 fabric 的吞吐。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hbm: https://www.gem5.org/documentation/general_docs/stdlib_api/gem5.components.memory.hbm.html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公开资料查阅日期：2026-09-19。建议参数与人工推导以页内口径为准。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桥接为项目新增方案。后端为 SimpleMemory、MemCtrl、HBMCtrl 或外部 wrapper 时都要匹配 gem5 timing port 的重试语义。真实 burst 粒度不必等于 NoC packet payload，拆分与重组要独立处理。写响应可能只代表控制器接受，持久化或 DRAM 写完成需额外定义，不能混淆。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公开资料查阅日期：2026-09-19。建议参数与人工推导以页内口径为准。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推荐关闭以默认峰值重新估算阶段的路径，按选定版本验证 compute runtime 的消费方式。不能开启全局 replay-only 而跳过期望保留的外部网络模拟。集体通信放在 P2P 基线通过之后。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astra: https://github.com/astra-sim/astra-sim/blob/master/astra-sim/workload/Workload.cc</a:t>
            </a:r>
          </a:p>
          <a:p xmlns:a="http://schemas.openxmlformats.org/drawingml/2006/main">
            <a:r>
              <a:t>chakra: https://github.com/mlcommons/chakra/blob/main/schema/protobuf/et_def.proto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公开资料查阅日期：2026-09-19。建议参数与人工推导以页内口径为准。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本次查看 Chakra 的 duration_micros 为整数，ASTRA issue_replay 将 runtime 乘 1000。高精度属性/sidecar 属项目新增，必须修改消费逻辑，写字段本身无效。L1 暂不模拟 compute/DMA/fabric 共享资源的并行竞争，不能把 L1 时长当最大重叠性能。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astra: https://github.com/astra-sim/astra-sim/blob/master/astra-sim/workload/Workload.cc</a:t>
            </a:r>
          </a:p>
          <a:p xmlns:a="http://schemas.openxmlformats.org/drawingml/2006/main">
            <a:r>
              <a:t>chakra: https://github.com/mlcommons/chakra/blob/main/schema/protobuf/et_def.proto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公开资料查阅日期：2026-09-19。建议参数与人工推导以页内口径为准。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规划为实施顺序，不是已完成状态或已承诺工期。L0-A 的 synthetic standalone 可先运行；L0-B 开始必须具备应用完成回调。首版无功耗。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公开资料查阅日期：2026-09-19。建议参数与人工推导以页内口径为准。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所有数字为建议实验设计，不是已运行结果。VC 深度指每 VC 的 flit 缓冲深度，与 vcs_per_vnet 数量区分。随机场景需要多 seed 和置信区间，具体重复次数由方差决定。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公开资料查阅日期：2026-09-19。建议参数与人工推导以页内口径为准。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L1 为离线分阶段模型。跨 rank 可按依赖并行，但同 die 相关阶段保守串行。collective 初期仅在明确边界驻留与归约成本条件下接入；内部每轮 DMA 竞争需要更高精度模型。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公开资料查阅日期：2026-09-19。建议参数与人工推导以页内口径为准。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人工 golden 的阶段时长之和为 1804 ns。load128 + comp1000 + egress32 + fabric(64+256/16)80 + ingress32 + comp500 + store32。1 B/(GB/s)=1ns。此例使用理想 payload 服务，与第10页带header/flit的包模型不同，不能混用其参数。真实 NoC/HBM性能采用详细模型。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公开资料查阅日期：2026-09-19。建议参数与人工推导以页内口径为准。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L0/L1 先采用固定负载下可解释的迭代。未实现在线联合仿真时，不声称已捕捉外部反馈对内部细粒度并发的全部影响。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公开资料查阅日期：2026-09-19。建议参数与人工推导以页内口径为准。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本页为需要团队评审的工程建议，非厂商规定。量化门槛不是工具精度保证。实际 SIMD lane 数、mask 语义、gather/scatter 支持、存储端口和缓冲参数均未假定。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公开资料查阅日期：2026-09-19。建议参数与人工推导以页内口径为准。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本地源码快照：D:/GEM5/gem5_esl，HEAD c5812cc155e08bc686042e27eb9d10bc51f405ee。源码可复用不等于已完成集成。</a:t>
            </a:r>
          </a:p>
          <a:p xmlns:a="http://schemas.openxmlformats.org/drawingml/2006/main">
            <a:r>
              <a:t>本汇报采用公开模型与本地源码能力描述，未给出实际芯片性能跑分。L0/L1 规划、IR 字段、packet 方案为项目设计。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garnet: https://www.gem5.org/documentation/general_docs/ruby/heterogarnet/</a:t>
            </a:r>
          </a:p>
          <a:p xmlns:a="http://schemas.openxmlformats.org/drawingml/2006/main">
            <a:r>
              <a:t>synth: https://www.gem5.org/documentation/general_docs/debugging_and_testing/directed_testers/garnet_synthetic_traffic/</a:t>
            </a:r>
          </a:p>
          <a:p xmlns:a="http://schemas.openxmlformats.org/drawingml/2006/main">
            <a:r>
              <a:t>timeloop: https://timeloop.csail.mit.edu/v4/output-formats/stats</a:t>
            </a:r>
          </a:p>
          <a:p xmlns:a="http://schemas.openxmlformats.org/drawingml/2006/main">
            <a:r>
              <a:t>trace: https://timeloop.csail.mit.edu/v4/output-formats/trace</a:t>
            </a:r>
          </a:p>
          <a:p xmlns:a="http://schemas.openxmlformats.org/drawingml/2006/main">
            <a:r>
              <a:t>astra: https://github.com/astra-sim/astra-sim/blob/master/astra-sim/workload/Workload.cc</a:t>
            </a:r>
          </a:p>
          <a:p xmlns:a="http://schemas.openxmlformats.org/drawingml/2006/main">
            <a:r>
              <a:t>chakra: https://github.com/mlcommons/chakra/blob/main/schema/protobuf/et_def.proto</a:t>
            </a:r>
          </a:p>
          <a:p xmlns:a="http://schemas.openxmlformats.org/drawingml/2006/main">
            <a:r>
              <a:t>hbm: https://www.gem5.org/documentation/general_docs/stdlib_api/gem5.components.memory.hbm.html</a:t>
            </a:r>
          </a:p>
          <a:p xmlns:a="http://schemas.openxmlformats.org/drawingml/2006/main">
            <a:r>
              <a:t>ramulator: https://github.com/CMU-SAFARI/ramulator2</a:t>
            </a:r>
          </a:p>
          <a:p xmlns:a="http://schemas.openxmlformats.org/drawingml/2006/main">
            <a:r>
              <a:t>dramsim: https://github.com/umd-memsys/DRAMsim3</a:t>
            </a:r>
          </a:p>
          <a:p xmlns:a="http://schemas.openxmlformats.org/drawingml/2006/main">
            <a:r>
              <a:t>dramsimcfg: https://github.com/umd-memsys/DRAMsim3/blob/master/configs/HBM2_8Gb_x128.ini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公开资料查阅日期：2026-09-19。建议参数与人工推导以页内口径为准。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503789c62c49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45e4e00a274b67" /><Relationship Type="http://schemas.openxmlformats.org/officeDocument/2006/relationships/slideLayout" Target="/ppt/slideLayouts/slideLayout1.xml" Id="R8d32bb354e9746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32bb354e9746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50d046e4c41f7" /><Relationship Type="http://schemas.openxmlformats.org/officeDocument/2006/relationships/notesSlide" Target="/ppt/notesSlides/notesSlide1.xml" Id="R9c4964ea0a6341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b86c442a94650" /><Relationship Type="http://schemas.openxmlformats.org/officeDocument/2006/relationships/notesSlide" Target="/ppt/notesSlides/notesSlide2.xml" Id="R72633b5933f14b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dd50d0b874793" /><Relationship Type="http://schemas.openxmlformats.org/officeDocument/2006/relationships/notesSlide" Target="/ppt/notesSlides/notesSlide3.xml" Id="Rcaa6363ffd1e4f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db856aa4c4165" /><Relationship Type="http://schemas.openxmlformats.org/officeDocument/2006/relationships/notesSlide" Target="/ppt/notesSlides/notesSlide4.xml" Id="Rd58a0f02ba594c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c59a87d204f00" /><Relationship Type="http://schemas.openxmlformats.org/officeDocument/2006/relationships/notesSlide" Target="/ppt/notesSlides/notesSlide5.xml" Id="R2372f404376949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b9fafd4cc4103" /><Relationship Type="http://schemas.openxmlformats.org/officeDocument/2006/relationships/notesSlide" Target="/ppt/notesSlides/notesSlide6.xml" Id="R2004c1ac832e46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018a773ef45a6" /><Relationship Type="http://schemas.openxmlformats.org/officeDocument/2006/relationships/notesSlide" Target="/ppt/notesSlides/notesSlide7.xml" Id="Rdf244e6763aa40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baf600c0e4635" /><Relationship Type="http://schemas.openxmlformats.org/officeDocument/2006/relationships/notesSlide" Target="/ppt/notesSlides/notesSlide8.xml" Id="R1edb1a14db8842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4d209bd4a41a7" /><Relationship Type="http://schemas.openxmlformats.org/officeDocument/2006/relationships/notesSlide" Target="/ppt/notesSlides/notesSlide9.xml" Id="R6a86c5ded3b646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d788702ea4e10" /><Relationship Type="http://schemas.openxmlformats.org/officeDocument/2006/relationships/notesSlide" Target="/ppt/notesSlides/notesSlide10.xml" Id="Rb0303192a39a44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9e1db8ba14356" /><Relationship Type="http://schemas.openxmlformats.org/officeDocument/2006/relationships/notesSlide" Target="/ppt/notesSlides/notesSlide11.xml" Id="Rd49d1f08823545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637518aca4338" /><Relationship Type="http://schemas.openxmlformats.org/officeDocument/2006/relationships/notesSlide" Target="/ppt/notesSlides/notesSlide12.xml" Id="R94987c11a41e49d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6c2554fa64f98" /><Relationship Type="http://schemas.openxmlformats.org/officeDocument/2006/relationships/notesSlide" Target="/ppt/notesSlides/notesSlide13.xml" Id="Rfaaff802899e4e3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b247a5730446a" /><Relationship Type="http://schemas.openxmlformats.org/officeDocument/2006/relationships/notesSlide" Target="/ppt/notesSlides/notesSlide14.xml" Id="R6a570fb2569348d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ed7f2e88c4a0b" /><Relationship Type="http://schemas.openxmlformats.org/officeDocument/2006/relationships/notesSlide" Target="/ppt/notesSlides/notesSlide15.xml" Id="Reb340e9ab188453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6a04010364560" /><Relationship Type="http://schemas.openxmlformats.org/officeDocument/2006/relationships/notesSlide" Target="/ppt/notesSlides/notesSlide16.xml" Id="R8706a9a50ea8436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f645ce99947fc" /><Relationship Type="http://schemas.openxmlformats.org/officeDocument/2006/relationships/notesSlide" Target="/ppt/notesSlides/notesSlide17.xml" Id="Re448efd1dbd0400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84d701ca1472b" /><Relationship Type="http://schemas.openxmlformats.org/officeDocument/2006/relationships/notesSlide" Target="/ppt/notesSlides/notesSlide18.xml" Id="R982c59e766a44e5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c108bb56c45f0" /><Relationship Type="http://schemas.openxmlformats.org/officeDocument/2006/relationships/notesSlide" Target="/ppt/notesSlides/notesSlide19.xml" Id="Ra7749e18f81c44e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43bed7b4549a0" /><Relationship Type="http://schemas.openxmlformats.org/officeDocument/2006/relationships/notesSlide" Target="/ppt/notesSlides/notesSlide20.xml" Id="R1e3f9503b59b49e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6edcb352d4c28" /><Relationship Type="http://schemas.openxmlformats.org/officeDocument/2006/relationships/notesSlide" Target="/ppt/notesSlides/notesSlide21.xml" Id="R0f31a6e7d618407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9fae4a25e4403" /><Relationship Type="http://schemas.openxmlformats.org/officeDocument/2006/relationships/notesSlide" Target="/ppt/notesSlides/notesSlide22.xml" Id="R83bd036b5a134ef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e0bfd57414e9b" /><Relationship Type="http://schemas.openxmlformats.org/officeDocument/2006/relationships/notesSlide" Target="/ppt/notesSlides/notesSlide23.xml" Id="Ra1a0ed8923ea4d0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a48f471c8418b" /><Relationship Type="http://schemas.openxmlformats.org/officeDocument/2006/relationships/notesSlide" Target="/ppt/notesSlides/notesSlide24.xml" Id="R60237a953c7b460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98bc7c6c846ea" /><Relationship Type="http://schemas.openxmlformats.org/officeDocument/2006/relationships/notesSlide" Target="/ppt/notesSlides/notesSlide25.xml" Id="R6daadbd9a41546c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474ba05c94057" /><Relationship Type="http://schemas.openxmlformats.org/officeDocument/2006/relationships/notesSlide" Target="/ppt/notesSlides/notesSlide26.xml" Id="R760be7fd345b44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54C85-07AC-4B9D-AB23-064126E8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1333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94CF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4CFD0"/>
                </a:solidFill>
                <a:latin typeface="Microsoft YaHei"/>
                <a:ea typeface="Microsoft YaHei"/>
                <a:cs typeface="Microsoft YaHei"/>
              </a:rPr>
              <a:t>技术方案评审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9AB20-5203-44D2-B90B-F78EDCC6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1371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SIMD Die 级仿真平台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33C4C-823B-4F3A-82A9-ACD6C57D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DDE9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DDE9F0"/>
                </a:solidFill>
                <a:latin typeface="Microsoft YaHei"/>
                <a:ea typeface="Microsoft YaHei"/>
                <a:cs typeface="Microsoft YaHei"/>
              </a:rPr>
              <a:t>架构、三方接口与 L0 / L1 实施方案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88424-8CF0-4703-A1FE-23BD43BA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2382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DD0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DD0DC"/>
                </a:solidFill>
                <a:latin typeface="Microsoft YaHei"/>
                <a:ea typeface="Microsoft YaHei"/>
                <a:cs typeface="Microsoft YaHei"/>
              </a:rPr>
              <a:t>技术方案评审稿</a:t>
            </a:r>
          </a:p>
          <a:p xmlns:a="http://schemas.openxmlformats.org/drawingml/2006/main">
            <a:pPr>
              <a:defRPr sz="1950" b="0">
                <a:solidFill>
                  <a:srgbClr val="BDD0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DD0DC"/>
                </a:solidFill>
                <a:latin typeface="Microsoft YaHei"/>
                <a:ea typeface="Microsoft YaHei"/>
                <a:cs typeface="Microsoft YaHei"/>
              </a:rPr>
              <a:t>性能建模范围，不含功耗</a:t>
            </a:r>
          </a:p>
          <a:p xmlns:a="http://schemas.openxmlformats.org/drawingml/2006/main">
            <a:pPr>
              <a:defRPr sz="1950" b="0">
                <a:solidFill>
                  <a:srgbClr val="BDD0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DD0DC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4360957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3F0C2-149B-415D-AA12-2D33ECCA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417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平台目标与 SIMD 建模边界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BC8BF-7232-480B-A5C6-FAD34A3D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407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核内服务时间来自计算团队，die 平台负责数据何时可用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14173200" cy="5391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4000500"/>
                <a:gridCol w="4000500"/>
                <a:gridCol w="3505200"/>
              </a:tblGrid>
              <a:tr h="60960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纳入本期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交付者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边界约束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</a:tr>
              <a:tr h="1195388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SIMD 计算簇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tile / 向量块的服务时间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可见缓冲与并发限制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计算核心团队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不导入 warp 调度或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GPU occupancy 假设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1195388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核外通信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NoC、DMA、共享存储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D2D 端口排队与反压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Die 团队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按依赖触发消息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按到达事件解锁计算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95388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外部系统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 die 划分、P2P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后续扩展 collective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ASTRA-sim 团队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L1 首版一 die 一 rank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 die 阶段保守串行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1195388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性能输出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任务完成时间、吞吐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等待、拥塞与资源占用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统一结果汇总器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功耗与面积不纳入本期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4AE50-489A-47AA-8F89-73C7861A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72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rPr>
              <a:t>首个闭环：读取输入、执行 SIMD 黑盒计算、写回输出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FC2A0-9A3C-408D-B3F7-C4350905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81629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908236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8B3E9-3554-4716-BEC7-9FCDC4C2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417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Die 平台的组成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5F572-BE06-4A34-AF67-B51BD045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407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Python 配置拓扑，C++ SimObject 维护运行时状态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14173200" cy="5391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4000500"/>
                <a:gridCol w="4000500"/>
                <a:gridCol w="3505200"/>
              </a:tblGrid>
              <a:tr h="60960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层级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承担的工作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实现方式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任务层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Workload Scheduler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解析 DAG、检查输入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分配资源、触发完成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项目新增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计算端点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SIMD Core Endpoint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按服务时间执行黑盒事件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管理输入 / 输出空间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项目新增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传输端点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DMA / Packetizer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分包、在途请求、重组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重试与完成语义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项目新增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NI / Router / Link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flit 传输、VC 仲裁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credit 与 CDC / SerDes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 Garnet / HeteroGarnet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存储侧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Memory Endpoint + Backend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网络消息转存储请求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存储响应转返回数据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桥接新增，后端复用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die 边界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D2D TX / RX Endpoint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有限队列、外部交付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未来连接 ASTRA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项目新增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3322D-5F0A-48FB-8764-4E478137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72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rPr>
              <a:t>Garnet 是网络子系统，端到端任务调度与端点行为需要补齐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730D9-69AE-4C46-8EC5-9FA0D4B9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81629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835640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CAF00-73B3-4E91-8823-9D2A359F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417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时间开销的唯一归属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18C60-183B-4118-B1BA-D771DD77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407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同一物理资源由一个模型仲裁，同一次服务只计一次时间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14173200" cy="5391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429000"/>
                <a:gridCol w="2857500"/>
                <a:gridCol w="4381500"/>
                <a:gridCol w="3505200"/>
              </a:tblGrid>
              <a:tr h="60960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 / 开销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性能模型来源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计时责任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接口位置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SIMD 阵列、私有存储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计算团队服务包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gem5 调度黑盒完成事件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核输入 / 输出逻辑端口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DMA、NI、NoC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Die 详细模型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gem5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计算端点至存储或 D2D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 SRAM、HBM 服务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所选 memory 后端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gem5 侧存储桥接与后端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请求接受至响应完成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D2D TX / RX 缓冲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Die 边界模型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gem5 详细模型 / L1 profile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TX 入队与 RX 交付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die 外控制器、PHY、链路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 网络后端或扩展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TX 出队至对端 RX 入队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系统完成时间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全局执行依赖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 / 统一汇总器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最后必需事件完成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3AE68-9D9A-4752-82DF-3A774AF8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72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rPr>
              <a:t>端到端时间取最终完成时刻，不能相加三个平台各自的总时间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B69DE-F96A-4589-818A-6650AFEA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81629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18701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6D3D4-38A3-4461-8575-D4778E85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417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计算核心团队的输入与输出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ED0CF-B1ED-4E1D-9509-A473060C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407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向核心团队索取可执行的服务契约，保持核内部实现独立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14173200" cy="5391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76500"/>
                <a:gridCol w="4572000"/>
                <a:gridCol w="4095750"/>
                <a:gridCol w="3028950"/>
              </a:tblGrid>
              <a:tr h="60960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接收后用于什么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验收重点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输入给核心团队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算子形状、dtype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SIMD 配置与映射约束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生成指定 tile 的服务时间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和边界访问描述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工作量与分片一致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输入给核心团队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核边界、核外端点映射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允许的缓冲与接口约束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划分核内服务和核外等待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核外等待不重复计入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输出给 die 团队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逐阶段计算服务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逐阶段边界访问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构建 read / compute / write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依赖执行图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 ID、粒度一致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输出给 die 团队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核边界资源能力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缓冲释放与预留规则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模拟排队、重叠和反压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容量有限、生命周期明确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输出给 die 团队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版本包、mapping、stats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可复现输入与命令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定位流量差异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 profile 失效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同一配置包可追溯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44B00-9DD1-4E01-B4A9-22DC1F5B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72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rPr>
              <a:t>本期不要求能耗文件、ERT / ART 或功耗分析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4A161-16EB-46EF-B492-5AC549A0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81629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594771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DB9AA-3E40-4846-8165-AF3FDB57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417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核心交付文件与使用方式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B3634-38CC-416F-8E99-F6F94DAB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407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四个接口文件配一个原始结果归档包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14173200" cy="5391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43250"/>
                <a:gridCol w="4572000"/>
                <a:gridCol w="4191000"/>
                <a:gridCol w="2266950"/>
              </a:tblGrid>
              <a:tr h="60960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交付文件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最小字段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Die 平台如何使用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检查项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core_service.jsonl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phase_id、endpoint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cycles + clock 或明确时长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输入到齐后安排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黑盒计算完成事件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排除核外等待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boundary_access.jsonl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src / dst、操作、字节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依赖、tensor / tile 标识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形成搬运任务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驱动消息注入与完成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粒度与服务一致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resources.json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 / 输出容量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计算槽、预留与释放策略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决定任务能否开始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缓冲何时接受新数据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共享资源不重复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core_manifest.json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workload / core / mapping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版本与文件 hash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防止混包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确定缓存与结果来源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变更触发失效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原生结果归档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架构、mapping、stats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工作负载、命令、日志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复现和计数核对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详细 trace 按需使用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接口与原文一致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58FF1-6DEA-41E0-AD7C-4391E978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72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rPr>
              <a:t>文件名为项目建议；语义、单位与完成条件才是冻结重点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76979-03ED-4108-A153-7C9DFE71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81629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473368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2C300B-E801-4AA7-9A62-DD097F55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417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SIMD 访存描述的额外要求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31E86-86C9-4207-B691-C727364E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407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向量运算的逻辑元素数，与实际 memory transaction 数分别统计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14173200" cy="5391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62250"/>
                <a:gridCol w="4095750"/>
                <a:gridCol w="4095750"/>
                <a:gridCol w="3219450"/>
              </a:tblGrid>
              <a:tr h="60960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访问类型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核心侧需描述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Die 侧处理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必须确认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连续访问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base_addr、元素大小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element_count、对齐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按地址区间拆成事务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再转换为网络 packet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尾部与跨边界处理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步长访问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base_addr、stride_bytes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有效元素个数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生成地址序列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 bank / channel 分布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不按连续流量近似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带掩码访问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active mask 或有效区间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mask 的访存语义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只按实际发出的请求计流量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被屏蔽 lane 是否访存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gather / scatter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显式地址列表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或确定性生成规则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按实际地址拆分 / 合并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仅在架构支持时启用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广播 / 归约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数据复用与归约发生位置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显式单播或专用模型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不默认网络内支持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FBD74-A195-4172-9582-D0C0B254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72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rPr>
              <a:t>只有 payload_bytes 可做带宽近似；分析 HBM 行命中必须有地址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720AB-5280-408F-88A7-3C1FCA1F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81629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027027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9C9D9-DE11-43B9-96E3-59DFF05C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417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任务、消息与 flit 的三层格式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043D3-175D-40A2-8409-C6FF775B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407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输入表达工作负载，网络内部表达传输与流控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14173200" cy="5391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76500"/>
                <a:gridCol w="4191000"/>
                <a:gridCol w="4286250"/>
                <a:gridCol w="3219450"/>
              </a:tblGrid>
              <a:tr h="60960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层级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建议表示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包含内容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谁消费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工作负载 IR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JSON 配置 + JSONL 节点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read / compute / write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依赖、端点、字节、地址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任务调度器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端点运行状态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C++ Task / TransferState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ready、在途包数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buffer 预留、完成标识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 / DMA / 存储端点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网络消息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Ruby Message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路由目的、消息类别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transfer / packet 关联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Garnet NI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 packet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一次单播 Message 的分包结果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头部与数据大小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 vnet / VC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NI 与 Router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 flit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Garnet flit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HEAD / BODY / TAIL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路由、时间与 credit 关联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Router 与 Link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E0DF3-F8AA-43DE-99CA-DBDF4502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72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rPr>
              <a:t>性能仿真通常保存元数据和字节数，不保存完整 tensor 数值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2F0AE-E769-4C39-A98A-6B99FDC4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81629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440091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CE64B-7990-49A3-A5A7-B0548B0F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417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项目数据包字段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A668AF-E933-4090-8196-8818F198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407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消息元数据与链路计费大小分开，防止大小字段失效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14173200" cy="5391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3429000"/>
                <a:gridCol w="4572000"/>
                <a:gridCol w="2933700"/>
              </a:tblGrid>
              <a:tr h="60960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字段组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建议字段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单位 / 约束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transfer_id、packet_index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packet_count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接收重组、去重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关联应用节点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全局唯一或含 die 前缀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src_endpoint、dst_endpoint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msg_type、vnet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区分读请求 / 数据 / 完成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选择网络类别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vnet 映射由协议定义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大小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payload_bytes、header_bytes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wire_bytes、padding_bytes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区分有效字节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与占用链路容量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全部采用 byte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address、byte_enable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read / write、ordering_tag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生成真实后端访问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定义写入完成与顺序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按事务粒度使用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 / 状态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node_id、ready_ps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accepted_ps、complete_ps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计算应用延迟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解锁下一任务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跨平台统一 ps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ED51E-F1A7-4413-ABF2-95182262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72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rPr>
              <a:t>当前 NI 使用 MessageSizeType 转换大小，自定义字段不会自动改变 flit 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39AE7-98F0-4DC7-B119-30FD1CED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81629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785995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4FFA3-3195-4674-B369-E08A0FC9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417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分包与有效带宽：计算样例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B0C5C-CB26-4221-956D-A6F105DB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407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配置样例：64 B payload / packet，8 B header，128 bit / flit，1 GHz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14173200" cy="5391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48000"/>
                <a:gridCol w="3714750"/>
                <a:gridCol w="3714750"/>
                <a:gridCol w="3695700"/>
              </a:tblGrid>
              <a:tr h="60960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KiB transfer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KiB transfer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有效数据量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1,024 B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4,096 B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应用实际需要搬运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packet 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payload / 64 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packet flit 数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ceil((64 + 8) / 16)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 flit 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packet 数 × 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链路占用容量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1,280 B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5,120 B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flit 数 × 16 B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发送占用 / 有效率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 ns / 80%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320 ns / 80%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理想一周期一个 flit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4B95C-FFB8-4F1A-8357-297DA799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72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rPr>
              <a:t>16 GB/s 原始链路在此分包下的理想 payload 上限为 12.8 GB/s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59B85-D3B2-44E6-8919-96DA2781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81629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000348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C25E6-7553-4801-B70A-0F947F80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417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时延模型与可观察事件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A3E90-37AA-4907-9AB5-DF1D9BF5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407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基础服务时间由参数定义，竞争等待由仿真运行产生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14173200" cy="5391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191000"/>
                <a:gridCol w="4095750"/>
                <a:gridCol w="3028950"/>
              </a:tblGrid>
              <a:tr h="60960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时延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产生方式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关键事件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归属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计算服务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cycles / core clock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事件队列安排完成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compute_start / complete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黑盒计算端点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存储服务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请求队列、bank 状态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调度、刷新与返回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mem_accept / response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memory 后端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网络传播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router / link 周期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CDC 与串并转换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inject / tail_arrive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Garnet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争用与反压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输出端口竞争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VC / credit / buffer 不可用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blocked / retry / accepted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Garnet + 端点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应用完成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全部响应到齐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目的缓冲接受 / 消费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consumer_visible / task_done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任务调度器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F6DB6-CF9B-44BF-A1DF-16F0D7BE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72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rPr>
              <a:t>应用读取时延包含请求、memory 服务和返回；packet latency 只是其中一部分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5DCF5-F366-4B9A-BB1B-39257236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81629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736102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EC8B1-2F89-4427-9EFC-AD58244F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417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可复用的仿真模块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B06E4-123D-466B-8DDC-1241BBA0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407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本页 IP 指仿真组件，复用前仍需配置和接口适配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14173200" cy="5391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33750"/>
                <a:gridCol w="4095750"/>
                <a:gridCol w="3619500"/>
                <a:gridCol w="3124200"/>
              </a:tblGrid>
              <a:tr h="60960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已有能力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本项目使用方式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集成状态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gem5 Event / ClockedObject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事件时间、时钟域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统计与 SimObject 框架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承载调度器与端点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框架可复用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Garnet NI / Router / Link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flit、VC、仲裁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路由与 credit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die 内网络主模型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配置后复用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HeteroGarnet Bridge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时钟域跨越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链路宽度转换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异构端口按需启用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能力已在本地源码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SimpleMemory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请求响应延迟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读写带宽限制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L0 初期存储基线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 Message/Packet 桥接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MemCtrl / HBMCtrl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DRAM 时序与控制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HBM2 双伪通道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L0 后期详细存储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需地址映射和桥接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Garnet synthetic traffic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可控合成流量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网络统计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冒烟、饱和与回归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不承担应用完成回调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284AC-3DD0-4BDE-9834-AE729430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72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rPr>
              <a:t>复用网络和存储内部实现，把开发集中在调度与端点语义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1FCB2-EFF6-4435-9974-276C83E3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81629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80787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9F800-0978-432A-A488-136224AA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417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需要单独实现的模块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62A68-D72A-45EF-9756-89E4FF95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407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新增模块保持单一责任，使用同一组任务与传输标识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14173200" cy="5391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43250"/>
                <a:gridCol w="4191000"/>
                <a:gridCol w="4095750"/>
                <a:gridCol w="2743200"/>
              </a:tblGrid>
              <a:tr h="60960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关键输入 / 输出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IR Compiler / Validator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合并核服务和边界访问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 ID、依赖、单位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核心包 / 工作负载 DAG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字节守恒、无环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Die Scheduler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依赖、计算槽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输入输出空间预留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就绪节点 / 完成事件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数据到齐后才计算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DMA / TrafficEndpoint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分包、注入、重试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多包完成与顺序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transfer / Ruby Message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无丢包、无重复完成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MemoryBridge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Message 与 PacketPtr 转换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地址拆分、端口重试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网络请求 / memory 响应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重试与背压正确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D2D Endpoint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 TX/RX、容量预约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外部交付与回调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本地搬运 / 外部事件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停收能够阻塞上游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Profile / Metrics Exporter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本地阶段表征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作用域、误差与适用域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事件日志 / die profile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条件变化可失效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F79EF-814E-4288-B20D-BCF1875D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72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rPr>
              <a:t>原始 standalone 接收端丢弃消息，应用级完成与缓冲生命周期需要新增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842D2-1726-435B-B633-75450A71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81629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808427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68A6BF-F244-4CB4-B2EB-BE5B749F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417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存储层级的模型边界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9A4E2-556C-4770-B6AE-9E73151F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407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按共享关系与需要解释的瓶颈选择精度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14173200" cy="5391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43250"/>
                <a:gridCol w="4191000"/>
                <a:gridCol w="4095750"/>
                <a:gridCol w="2743200"/>
              </a:tblGrid>
              <a:tr h="60960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层级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推荐模型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本期分析对象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归属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寄存器 / 核私有 SRAM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核心服务模型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核内服务时间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边界可见容量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核心团队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 SRAM / scratchpad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端口与 bank 队列模型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bank 冲突、端口争用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读写服务率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Die 团队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抽象外部 memory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SimpleMemory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或显式队列服务模型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总带宽、响应延迟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端点背压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Die 团队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HBM / DDR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控制器 + DRAM 时序模型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行命中、刷新、读写切换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通道映射与排队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Die 团队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远端 memory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明确远端位置的模型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外部网络和远端服务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 团队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与本地存储互斥计账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F29A9-EB45-4133-838D-6D480B81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72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rPr>
              <a:t>共享 SRAM 的 banked 行为需专用端点；SimpleMemory 只用于抽象基线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9A4E3-FF88-4F17-ACA9-457EEC01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81629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172383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788AA-1C91-4C29-8C74-0DC7470D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417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业界 memory 模型选型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0D6C3-82E1-4056-9158-DA1DF93E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407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先接通抽象基线，再对真正影响结论的存储行为提高精度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14173200" cy="5391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095750"/>
                <a:gridCol w="4095750"/>
                <a:gridCol w="3124200"/>
              </a:tblGrid>
              <a:tr h="60960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可覆盖的行为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接入与限制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本项目建议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gem5 SimpleMemory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 / 可变响应延迟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整体读写带宽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 timing port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不解析 DRAM bank 时序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L0 最早基线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gem5 MemCtrl + DRAMInterface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控制器队列与 DRAM 时序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具体标准取决于配置类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本地原生组件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需地址映射与参数校准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DDR 等详细基线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gem5 HBMCtrl + HBM2Stack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HBM2 双伪通道组织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基于时序模型服务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本地已有相关模型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不等于真实芯片全 PHY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 HBM2 优先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Ramulator 2.x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可扩展控制器 / DRAM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主线已有较新 HBM 模型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外部依赖和 wrapper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锁定分支后验证兼容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新标准 / 控制器研究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DRAMsim3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DRAM bank、命令队列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仓库含 HBM2 配置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本地有 wrapper 声明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外部库仍需构建校验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替代后端 / 对照验证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ED781-C6C7-4889-BBEB-77B1084B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72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rPr>
              <a:t>模型支持一种标准，不等于已经校准到你们目标 HBM 产品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B1E60-AF7F-40E4-B30C-1D6B6175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81629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004325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AC9A3-8A65-458B-BF97-C9B66A84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417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HBM2 参数与带宽量级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A7B62-4472-4CCB-A635-02EF32A2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407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以本地 HBM2Stack 配置为例，数字为配置读取或理论推导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14173200" cy="5391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714750"/>
                <a:gridCol w="3143250"/>
                <a:gridCol w="4095750"/>
                <a:gridCol w="3219450"/>
              </a:tblGrid>
              <a:tr h="60960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示例值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 / 计算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使用注意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容量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GiB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HBM2Stack 默认 size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不是性能或产品保证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物理通道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HBM2Stack 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地址需要分布到通道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伪通道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× 每通道 2 个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共享命令资源仍有约束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每伪通道数据宽度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HBM_2000_4H_1x64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单次 burst 另看长度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pin 数据速率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Gb/s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ns 时钟的 DDR 传输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区别时钟与数据速率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 stack 原始带宽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 GB/s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× 64 × 2 / 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可用带宽受访问模式限制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D76F7-2BCC-49D5-841B-C9B6955D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72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rPr>
              <a:t>一条 128 bit、1 GHz NoC 链路仅 16 GB/s，单路径无法喂满该理论 HBM 带宽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7549D-D701-41F3-96F0-D02F54A8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81629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716440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15A2D0-5D6C-4C63-80E1-D5DED8E6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417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Garnet 接入 memory 后端的路径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1FC00-63E3-4C31-A5F3-82D36E8B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407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网络侧使用 MessageBuffer，存储后端使用 timing RequestPort / ResponsePort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14173200" cy="5391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76500"/>
                <a:gridCol w="4191000"/>
                <a:gridCol w="4476750"/>
                <a:gridCol w="3028950"/>
              </a:tblGrid>
              <a:tr h="60960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顺序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处理动作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状态与接口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需要保留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请求到达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 NI 交付给 MemoryBridge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有限请求队列接受消息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transfer / transaction ID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请求转换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按地址与后端粒度拆分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 gem5 Request / PacketPtr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地址、长度、读写与顺序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后端接受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调用 sendTimingReq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 false 时保留请求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等待 recvReqRetry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禁止丢弃或重复发送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后端完成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接收 timing response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响应队列满时实施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正确响应重试机制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每子事务仅完成一次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返回网络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生成数据 / 完成 Message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Garnet 模拟返回路径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请求与返回分别计流量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任务完成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端点收齐且目的空间接受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释放资源并解锁依赖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写完成语义提前约定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9A660-592D-4593-B8D5-2C1462DE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72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rPr>
              <a:t>没有地址的 aggregate traffic，可做带宽基线，不能解释 row-hit / bank-conflict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F9CFA-C08E-4E60-81B6-B61996A1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81629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600641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CF220-F5CA-4C54-A443-B5E56E2C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417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ASTRA-sim 团队的输入与输出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F2F3AE-8AF3-4517-9DAC-1795C8CB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407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L1 用本地 profile 承载 die 阶段，ASTRA 负责外部网络与全局依赖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14173200" cy="5391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62250"/>
                <a:gridCol w="4476750"/>
                <a:gridCol w="4191000"/>
                <a:gridCol w="2743200"/>
              </a:tblGrid>
              <a:tr h="60960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交付方向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 给 die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rank / die 映射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张量分片和任务划分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决定哪个 die 计算什么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哪些数据需要出 die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首版一 die 一 rank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 给 die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P2P 匹配、消息大小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外部拓扑与端口能力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 egress / ingress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定义边界服务条件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tag / peer / bytes 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Die 给 ASTRA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本地阶段 duration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覆盖节点、profile 版本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调度本地阶段完成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不重复计核内与 memory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Die 给 ASTRA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egress / ingress profile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chunk 与 TX/RX 容量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分开描述本地搬运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和外部传输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适用域内使用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 返回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系统事件、总完成时间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暴露通信与瓶颈场景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定位关键路径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提出下一轮局部实验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 die 日志共享 ID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685E9-B8AF-4378-A072-1B1052F0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72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rPr>
              <a:t>ASTRA 可以承载 SIMD 的阶段时长；GPU 命名不代表需要 SIMT 计算模型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DC458B-A6EE-4A97-909B-40C92734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81629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25475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3C5E4-42C6-41E6-A5F6-38A3AD29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417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L1 的节点映射与时间精度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A6626E-E3D7-4D74-A425-29279369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407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同一 die 本地计算、搬运与外部通信先按依赖串行化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14173200" cy="5391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33750"/>
                <a:gridCol w="3714750"/>
                <a:gridCol w="4000500"/>
                <a:gridCol w="3124200"/>
              </a:tblGrid>
              <a:tr h="60960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项目节点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 / Chakra 表达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完成条件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关键检查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本地计算 + 内部访存阶段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COMP_NODE + die profile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阶段服务时间结束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移除已聚合子节点计时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 egress / ingress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独立阶段时长节点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本地搬运完成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与阶段 profile 范围互斥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 P2P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COMM_SEND / COMM_RECV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匹配传输和接收完成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接收先 posted，防死锁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 collective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COMM_COLL + group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选定算法完成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逻辑字节不预乘算法倍数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纳秒级阶段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高精度 sidecar / 扩展适配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消费逻辑读取有效时长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原生微秒字段需核对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B5E17-73E0-4C07-96D1-3BE07BC1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72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rPr>
              <a:t>建议量化误差预算 ≤1%；32 ns 不能直接四舍五入成整数微秒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FDC64-0520-49CF-9858-2E1FCE6E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81629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4210851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7F1D5-48D5-460B-AA47-F7BECCBD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417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L0：单 die 平台实施规划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C5A9D-5BBE-47B1-8B23-D0A501E9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407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首个目标是让网络与存储等待真实改变 SIMD 任务完成时间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14173200" cy="5391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76500"/>
                <a:gridCol w="4381500"/>
                <a:gridCol w="4381500"/>
                <a:gridCol w="2933700"/>
              </a:tblGrid>
              <a:tr h="60960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主要工作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交付物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退出条件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</a:tr>
              <a:tr h="1195388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L0-A 网络基线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router、同频同宽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单流与饱和合成流量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拓扑配置、packet/flit 日志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计数正确，带宽可解释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1195388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L0-B 端点闭环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分包重组、有限 buffer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read / compute / write DAG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Scheduler、TrafficEndpoint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人工工作负载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停收能阻塞并恢复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95388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L0-C 存储接入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SimpleMemory + 桥接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随后 HBM2 地址访问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请求重试、地址映射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存储回归案例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响应守恒与顺序正确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1195388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L0-D 核数据接入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 Timeloop 服务包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SIMD 连续 / 步长访问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 mapping 的 die profile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瓶颈与敏感性报告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数据可追溯、结果可复现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1CBBB-F5BD-4901-8AFF-562405EE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72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rPr>
              <a:t>先用人工任务验收机制，再用核心团队数据替换输入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AEF68-E7A1-41C4-B3EF-25217192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81629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09099235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03E5A-6F42-4096-9F4C-365DFF50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417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L0：实验矩阵与验收数据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D0431-F050-438B-950C-44911ED6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407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测试空间先固定小规模，再逐项增加并发与访问复杂度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14173200" cy="5391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43250"/>
                <a:gridCol w="4381500"/>
                <a:gridCol w="3524250"/>
                <a:gridCol w="3124200"/>
              </a:tblGrid>
              <a:tr h="60960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建议取值 / 场景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组合数 / 指标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通过条件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 sweep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消息 64 B / 1 KiB / 4 KiB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位宽 64 / 128 / 256 bit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VC 深度 2 / 4 / 8 flits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单流 + 双流，共 54 点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吞吐不超瓶颈上限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端点并发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计算槽 1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输入单缓冲 / 双缓冲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任务完成时间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输入等待与输出阻塞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依赖不被提前释放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存储访问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 / 步长 / 热点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读比例 0% / 50% / 100%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固定其余条件共 9 点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带宽与请求延迟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响应守恒，模式可解释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反压注入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目的端暂停后恢复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TX/RX 与响应队列受限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占用峰值、停顿传播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最终排空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无丢包、无重复完成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计数与复现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相同输入 / revision / seed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有效字节、wire 字节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每节点开始与结束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确定性案例一致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AD5C5-FBC2-4542-BBBF-72B990ED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72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rPr>
              <a:t>54 点为 3 × 3 × 3 × 2；网络与存储矩阵分开运行，不做盲目全组合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8CE16-B2F6-42B5-A1AA-910ECFDE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81629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71655132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EDA12-2F71-4248-A0D3-953D05A3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417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L1：多 die 串联实施规划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8A937-5CBA-477F-9AFA-A4B1379E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407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用离线 die profile 建立可复现的跨团队端到端基线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14173200" cy="5391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76500"/>
                <a:gridCol w="4381500"/>
                <a:gridCol w="4381500"/>
                <a:gridCol w="2933700"/>
              </a:tblGrid>
              <a:tr h="60960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Die 团队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 团队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退出条件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</a:tr>
              <a:tr h="1195388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L1-A 契约冻结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profile 范围与版本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egress / ingress 边界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rank 映射、P2P 匹配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高精度时长方案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同一节点只计时一次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1195388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L1-B 两 die 基准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两侧本地阶段 profile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输出逐事件对账表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 ET 与匹配 send/recv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跑串行 DAG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golden 与单位检查通过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95388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L1-C 真实分片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按分片重生成核与 die 数据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检查缓冲与流量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/ 4 die 运行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定位暴露通信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工作量与通信量一致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1195388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L1-D 闭环反馈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重跑超适用域案例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版本化新 profile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回传外部瓶颈场景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重跑全局依赖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结论可复现，限制明确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0AB0E-78DB-4E9E-A0B7-6D23B20E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72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rPr>
              <a:t>L1 不需要运行时联合时钟；本地与外部资源重叠留到下一精度等级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E0FAA-6DF8-469C-9210-D1D8EAB2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81629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4238337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CCC98-452F-4B29-BDB6-C9BB3D0D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417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L1：两 die 人工 golden 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8DF21-C1A2-462E-873D-8559CBE9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407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理想本地 8 GB/s，外部 16 GB/s + 64 ns；无包头、无争用、全部串行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14173200" cy="5391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3143250"/>
                <a:gridCol w="3905250"/>
                <a:gridCol w="2095500"/>
                <a:gridCol w="2171700"/>
              </a:tblGrid>
              <a:tr h="60960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计时范围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工作量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 ns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 ns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</a:tr>
              <a:tr h="683079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load0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本地搬运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1,024 B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683079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compute0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SIMD 核黑盒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 cycles @ 1 GHz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1,128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3079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egress0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core0 至 TX0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 B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1,160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683079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fabric01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TX0 至 RX1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 B + 固定延迟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1,240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3079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ingress1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RX1 至 core1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 B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1,272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683079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compute1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SIMD 核黑盒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 cycles @ 1 GHz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1,772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3079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store1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本地搬运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 B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1,804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F7DF4-B333-4A62-AD99-3E6C9AE8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72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rPr>
              <a:t>期望总时间 1.804 μs；该样例用于接口计时验收，不代表芯片预测性能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E6C39-C891-490C-8121-63BA8298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81629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04101722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358D6E-B784-4B56-8ABB-87B3E135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417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L0 / L1 的迭代闭环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C5316-3189-4BE5-AE19-C406ACCD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407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每次变更都能说明重跑范围，profile 的适用条件随结果保存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14173200" cy="5391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48000"/>
                <a:gridCol w="4095750"/>
                <a:gridCol w="4095750"/>
                <a:gridCol w="2933700"/>
              </a:tblGrid>
              <a:tr h="60960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观察到的问题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调整对象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必须重跑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反馈数据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输入等待长期占主导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tile、预取与私有缓冲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或共享 memory 分布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核服务 / 边界访问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die profile / system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输入等待、热点与地址分布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NoC 热点集中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端点放置、路由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链路或 memory 端口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die profile / system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链路占用、队列峰值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D2D 输出积压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分片、chunk、端口能力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外部带宽与调度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相关边界 profile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全局工作负载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TX 阻塞与外部完成事件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profile 条件变化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并发、消息大小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初始队列或 mapping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超适用域条目重新表征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 hash、适用域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跨平台结果不一致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单位、完成语义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重复计时或漏计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最小复现与 golden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 ID 的逐事件日志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FE24D-D90B-4493-9957-C3F15338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72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rPr>
              <a:t>离线迭代稳定只说明自洽；模型精度仍需独立案例或详细参照验证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3E534-518A-4AFB-87A1-30C5285B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81629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47218301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7515B-5092-4DC3-894B-A236240D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417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评审需要冻结的决策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EFACF-B30E-4EEE-AE1B-918FAD95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407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先冻结接口与责任，再确认真实硬件参数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14173200" cy="5391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33750"/>
                <a:gridCol w="4762500"/>
                <a:gridCol w="3429000"/>
                <a:gridCol w="2647950"/>
              </a:tblGrid>
              <a:tr h="60960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决策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建议默认值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验收依据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SIMD 黑盒粒度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cluster / tile 级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不模拟核内向量指令流水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 + Die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服务与访问粒度一致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首版存储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SimpleMemory 基线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HBM2Stack 做详细候选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重试、地址与吞吐测试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首版 packet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 B payload + 8 B header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16 B flit 验证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Die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KiB 对应 80 flits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L1 执行方式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 die 一 rank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 die 阶段串行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 + Die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 die golden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时间精度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IR 使用 ps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建议量化误差 ≤1%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 + Die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关键路径误差预算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796925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版本管理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 hash + 模型 revision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超适用域拒绝复用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可复现与缓存失效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9BE41-F326-427F-9F53-4B02147E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72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rPr>
              <a:t>上述数值均为首版建议；拓扑、频率、lane 数和 HBM 产品参数待架构输入确认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5C8E1-B004-4BE9-8EF1-0347C8B9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81629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33352034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1F4C4-E399-4A2C-A59E-8F5A002D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417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模型与接口资料索引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1F15B-489B-4B78-9F22-6CD12670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407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来源查阅于 2026-09-19；进入实现时锁定代码 revision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14173200" cy="5391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857750"/>
                <a:gridCol w="6457950"/>
              </a:tblGrid>
              <a:tr h="60960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一手资料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支撑内容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Garnet / HeteroGarnet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gem5 官方文档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 gem5_esl 源码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网络组件、时钟桥接、消息大小转换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standalone 接收限制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核心输入输出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Timeloop stats / trace 文档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周期和分层访问统计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trace 需要解释为项目边界访问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 / Chakra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 Workload.cc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Chakra et_def.proto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节点执行、P2P 和时长消费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整数微秒字段的精度问题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HBM / memory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gem5 HBM stdlib 文档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 HBM2Stack / HBMCtrl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HBM2 组织、通道与伪通道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本地配置参数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631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 memory 后端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CMU-SAFARI/ramulator2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umd-memsys/DRAMsim3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模型范围、版本差异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9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wrapper 与 HBM2 配置</a:t>
                      </a:r>
                    </a:p>
                  </a:txBody>
                  <a:tcPr marL="91440" marR="91440" marT="45720" marB="45720" anchor="ctr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35369-562B-4E72-9F7E-0F10532C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72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3"/>
                </a:solidFill>
                <a:latin typeface="Microsoft YaHei"/>
                <a:ea typeface="Microsoft YaHei"/>
                <a:cs typeface="Microsoft YaHei"/>
              </a:rPr>
              <a:t>每页备注包含对应链接与推导口径；方案数字与模型能力分别标注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0D5E3-7054-4E26-BD31-3849FD06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81629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7083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5999728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2026-09-19T14:48:35.1540000Z</dcterms:created>
  <dcterms:modified xsi:type="dcterms:W3CDTF">2026-09-19T14:48:35.1540000Z</dcterms:modified>
</coreProperties>
</file>